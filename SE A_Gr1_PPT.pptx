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06" r:id="rId1"/>
  </p:sldMasterIdLst>
  <p:notesMasterIdLst>
    <p:notesMasterId r:id="rId22"/>
  </p:notesMasterIdLst>
  <p:sldIdLst>
    <p:sldId id="256" r:id="rId2"/>
    <p:sldId id="270" r:id="rId3"/>
    <p:sldId id="258" r:id="rId4"/>
    <p:sldId id="277" r:id="rId5"/>
    <p:sldId id="276" r:id="rId6"/>
    <p:sldId id="266" r:id="rId7"/>
    <p:sldId id="261" r:id="rId8"/>
    <p:sldId id="267" r:id="rId9"/>
    <p:sldId id="262" r:id="rId10"/>
    <p:sldId id="278" r:id="rId11"/>
    <p:sldId id="269" r:id="rId12"/>
    <p:sldId id="272" r:id="rId13"/>
    <p:sldId id="279" r:id="rId14"/>
    <p:sldId id="280" r:id="rId15"/>
    <p:sldId id="281" r:id="rId16"/>
    <p:sldId id="282" r:id="rId17"/>
    <p:sldId id="265" r:id="rId18"/>
    <p:sldId id="274" r:id="rId19"/>
    <p:sldId id="268" r:id="rId20"/>
    <p:sldId id="260" r:id="rId21"/>
  </p:sldIdLst>
  <p:sldSz cx="10080625" cy="7559675"/>
  <p:notesSz cx="7559675" cy="10691813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rebuchet MS" panose="020B0603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7" autoAdjust="0"/>
    <p:restoredTop sz="94632" autoAdjust="0"/>
  </p:normalViewPr>
  <p:slideViewPr>
    <p:cSldViewPr>
      <p:cViewPr varScale="1">
        <p:scale>
          <a:sx n="71" d="100"/>
          <a:sy n="71" d="100"/>
        </p:scale>
        <p:origin x="1579" y="53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215900" y="812800"/>
            <a:ext cx="7126288" cy="40068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IN" noProof="0"/>
          </a:p>
        </p:txBody>
      </p:sp>
      <p:sp>
        <p:nvSpPr>
          <p:cNvPr id="2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altLang="en-US" noProof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278313" y="0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pPr>
              <a:defRPr/>
            </a:pPr>
            <a:endParaRPr lang="en-IN" altLang="en-US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278313" y="10156825"/>
            <a:ext cx="3279775" cy="5334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defRPr>
            </a:lvl1pPr>
          </a:lstStyle>
          <a:p>
            <a:fld id="{4958BB21-4428-4B0A-8617-89D1124DC67C}" type="slidenum">
              <a:rPr lang="en-IN" altLang="en-US"/>
              <a:pPr/>
              <a:t>‹#›</a:t>
            </a:fld>
            <a:endParaRPr lang="en-I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1629D04-82F7-4EDC-AA42-787D48AF7FC6}" type="slidenum">
              <a:rPr lang="en-IN" altLang="en-US" sz="1400"/>
              <a:pPr>
                <a:spcBef>
                  <a:spcPct val="0"/>
                </a:spcBef>
              </a:pPr>
              <a:t>1</a:t>
            </a:fld>
            <a:endParaRPr lang="en-IN" altLang="en-US" sz="1400"/>
          </a:p>
        </p:txBody>
      </p:sp>
      <p:sp>
        <p:nvSpPr>
          <p:cNvPr id="7171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2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EC28203-1F36-4499-A51C-AD86F588D333}" type="slidenum">
              <a:rPr lang="en-IN" altLang="en-US" sz="1400"/>
              <a:pPr>
                <a:spcBef>
                  <a:spcPct val="0"/>
                </a:spcBef>
              </a:pPr>
              <a:t>2</a:t>
            </a:fld>
            <a:endParaRPr lang="en-IN" altLang="en-US" sz="1400"/>
          </a:p>
        </p:txBody>
      </p:sp>
      <p:sp>
        <p:nvSpPr>
          <p:cNvPr id="92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03FB8E5-56C6-4D8B-8546-BD76B0DBE61D}" type="slidenum">
              <a:rPr lang="en-IN" altLang="en-US" sz="1400"/>
              <a:pPr>
                <a:spcBef>
                  <a:spcPct val="0"/>
                </a:spcBef>
              </a:pPr>
              <a:t>3</a:t>
            </a:fld>
            <a:endParaRPr lang="en-IN" altLang="en-US" sz="1400"/>
          </a:p>
        </p:txBody>
      </p:sp>
      <p:sp>
        <p:nvSpPr>
          <p:cNvPr id="11267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8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0623B8B-1036-4470-B095-843DB211D8FF}" type="slidenum">
              <a:rPr lang="en-IN" altLang="en-US" sz="1400"/>
              <a:pPr>
                <a:spcBef>
                  <a:spcPct val="0"/>
                </a:spcBef>
              </a:pPr>
              <a:t>6</a:t>
            </a:fld>
            <a:endParaRPr lang="en-IN" altLang="en-US" sz="1400"/>
          </a:p>
        </p:txBody>
      </p:sp>
      <p:sp>
        <p:nvSpPr>
          <p:cNvPr id="1536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83DE8E-EC1F-4ECB-BEE2-84424D162DB9}" type="slidenum">
              <a:rPr lang="en-IN" altLang="en-US" sz="1400"/>
              <a:pPr>
                <a:spcBef>
                  <a:spcPct val="0"/>
                </a:spcBef>
              </a:pPr>
              <a:t>7</a:t>
            </a:fld>
            <a:endParaRPr lang="en-IN" altLang="en-US" sz="1400"/>
          </a:p>
        </p:txBody>
      </p:sp>
      <p:sp>
        <p:nvSpPr>
          <p:cNvPr id="1741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B77D873-1E10-41AE-9D37-93ACA97C05F7}" type="slidenum">
              <a:rPr lang="en-IN" altLang="en-US" sz="1400"/>
              <a:pPr>
                <a:spcBef>
                  <a:spcPct val="0"/>
                </a:spcBef>
              </a:pPr>
              <a:t>9</a:t>
            </a:fld>
            <a:endParaRPr lang="en-IN" altLang="en-US" sz="1400"/>
          </a:p>
        </p:txBody>
      </p:sp>
      <p:sp>
        <p:nvSpPr>
          <p:cNvPr id="2048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048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A9F5A04-9558-49DC-AE89-8EE2EE1F4EE6}" type="slidenum">
              <a:rPr lang="en-IN" altLang="en-US" sz="1400"/>
              <a:pPr>
                <a:spcBef>
                  <a:spcPct val="0"/>
                </a:spcBef>
              </a:pPr>
              <a:t>12</a:t>
            </a:fld>
            <a:endParaRPr lang="en-IN" altLang="en-US" sz="1400"/>
          </a:p>
        </p:txBody>
      </p:sp>
      <p:sp>
        <p:nvSpPr>
          <p:cNvPr id="2457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458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C6AACEF-F105-4B5C-851B-5E8A1B0B73B9}" type="slidenum">
              <a:rPr lang="en-IN" altLang="en-US" sz="1400"/>
              <a:pPr>
                <a:spcBef>
                  <a:spcPct val="0"/>
                </a:spcBef>
              </a:pPr>
              <a:t>17</a:t>
            </a:fld>
            <a:endParaRPr lang="en-IN" altLang="en-US" sz="1400"/>
          </a:p>
        </p:txBody>
      </p:sp>
      <p:sp>
        <p:nvSpPr>
          <p:cNvPr id="3072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BCCFB95-AA0C-445B-A286-B9E481C0FFA4}" type="slidenum">
              <a:rPr lang="en-IN" altLang="en-US" sz="1400"/>
              <a:pPr>
                <a:spcBef>
                  <a:spcPct val="0"/>
                </a:spcBef>
              </a:pPr>
              <a:t>18</a:t>
            </a:fld>
            <a:endParaRPr lang="en-IN" altLang="en-US" sz="1400"/>
          </a:p>
        </p:txBody>
      </p:sp>
      <p:sp>
        <p:nvSpPr>
          <p:cNvPr id="32771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8DBFB67-272C-455B-B5AE-D7EB53C42C3C}" type="slidenum">
              <a:rPr lang="en-IN" altLang="en-US" sz="1400"/>
              <a:pPr>
                <a:spcBef>
                  <a:spcPct val="0"/>
                </a:spcBef>
              </a:pPr>
              <a:t>19</a:t>
            </a:fld>
            <a:endParaRPr lang="en-IN" altLang="en-US" sz="1400"/>
          </a:p>
        </p:txBody>
      </p:sp>
      <p:sp>
        <p:nvSpPr>
          <p:cNvPr id="3481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2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D718B33-CF38-4556-802C-EE1C2D02F736}" type="slidenum">
              <a:rPr lang="en-IN" altLang="en-US" sz="1400"/>
              <a:pPr>
                <a:spcBef>
                  <a:spcPct val="0"/>
                </a:spcBef>
              </a:pPr>
              <a:t>20</a:t>
            </a:fld>
            <a:endParaRPr lang="en-IN" altLang="en-US" sz="1400"/>
          </a:p>
        </p:txBody>
      </p:sp>
      <p:sp>
        <p:nvSpPr>
          <p:cNvPr id="36867" name="Rectangle 1"/>
          <p:cNvSpPr>
            <a:spLocks noChangeArrowheads="1" noTextEdit="1"/>
          </p:cNvSpPr>
          <p:nvPr>
            <p:ph type="sldImg"/>
          </p:nvPr>
        </p:nvSpPr>
        <p:spPr>
          <a:xfrm>
            <a:off x="1106488" y="812800"/>
            <a:ext cx="5346700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8" name="Rectangle 2"/>
          <p:cNvSpPr>
            <a:spLocks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7"/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6" y="-8468"/>
            <a:chExt cx="9171316" cy="6874935"/>
          </a:xfrm>
        </p:grpSpPr>
        <p:cxnSp>
          <p:nvCxnSpPr>
            <p:cNvPr id="5" name="Straight Connector 4"/>
            <p:cNvCxnSpPr/>
            <p:nvPr/>
          </p:nvCxnSpPr>
          <p:spPr>
            <a:xfrm flipV="1">
              <a:off x="5130870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Freeform 29"/>
            <p:cNvSpPr/>
            <p:nvPr/>
          </p:nvSpPr>
          <p:spPr>
            <a:xfrm>
              <a:off x="6891981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8" name="Freeform 3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9" name="Freeform 31"/>
            <p:cNvSpPr/>
            <p:nvPr/>
          </p:nvSpPr>
          <p:spPr>
            <a:xfrm>
              <a:off x="6638542" y="3920066"/>
              <a:ext cx="2512788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0" name="Freeform 3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1" name="Freeform 3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2" name="Freeform 3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3" name="Freeform 3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4" name="Freeform 17"/>
            <p:cNvSpPr/>
            <p:nvPr/>
          </p:nvSpPr>
          <p:spPr>
            <a:xfrm>
              <a:off x="-8466" y="-8468"/>
              <a:ext cx="863996" cy="5698391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46403" y="2650553"/>
            <a:ext cx="6423553" cy="1814743"/>
          </a:xfrm>
        </p:spPr>
        <p:txBody>
          <a:bodyPr anchor="b">
            <a:noAutofit/>
          </a:bodyPr>
          <a:lstStyle>
            <a:lvl1pPr algn="r">
              <a:defRPr sz="5952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6403" y="4465295"/>
            <a:ext cx="6423553" cy="1209128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9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8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23660D-C946-473F-A04D-52D2D8913225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8DD527-30D2-4D1F-A900-EFB6BE6ACC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746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96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6E59C5-3C61-4B6C-A41D-3ADF1AF6E3D5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3DA55E-B2E0-461D-8954-2D5797F1A1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8524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977208"/>
            <a:ext cx="6997915" cy="2013467"/>
          </a:xfrm>
        </p:spPr>
        <p:txBody>
          <a:bodyPr anchor="b"/>
          <a:lstStyle>
            <a:lvl1pPr algn="l">
              <a:defRPr sz="440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948432"/>
          </a:xfrm>
        </p:spPr>
        <p:txBody>
          <a:bodyPr/>
          <a:lstStyle>
            <a:lvl1pPr marL="0" indent="0" algn="l">
              <a:buNone/>
              <a:defRPr sz="220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6E21C-BDCE-472B-ACBF-4972C8BE1FF7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875C62-5B92-492A-8442-28572EF16F4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788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2042" y="2381649"/>
            <a:ext cx="3404426" cy="4277832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5529" y="2381651"/>
            <a:ext cx="3404427" cy="4277834"/>
          </a:xfrm>
        </p:spPr>
        <p:txBody>
          <a:bodyPr/>
          <a:lstStyle>
            <a:lvl1pPr>
              <a:defRPr sz="1984"/>
            </a:lvl1pPr>
            <a:lvl2pPr>
              <a:defRPr sz="1764"/>
            </a:lvl2pPr>
            <a:lvl3pPr>
              <a:defRPr sz="1543"/>
            </a:lvl3pPr>
            <a:lvl4pPr>
              <a:defRPr sz="1323"/>
            </a:lvl4pPr>
            <a:lvl5pPr>
              <a:defRPr sz="1323"/>
            </a:lvl5pPr>
            <a:lvl6pPr>
              <a:defRPr sz="1323"/>
            </a:lvl6pPr>
            <a:lvl7pPr>
              <a:defRPr sz="1323"/>
            </a:lvl7pPr>
            <a:lvl8pPr>
              <a:defRPr sz="1323"/>
            </a:lvl8pPr>
            <a:lvl9pPr>
              <a:defRPr sz="132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8067F-A168-4272-94AF-D8FC5F8ECB16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C5DCFD-225E-412C-B367-514B2C9D02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1403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3" cy="14559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1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2041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62702" y="2382084"/>
            <a:ext cx="3407251" cy="635222"/>
          </a:xfrm>
        </p:spPr>
        <p:txBody>
          <a:bodyPr anchor="b">
            <a:noAutofit/>
          </a:bodyPr>
          <a:lstStyle>
            <a:lvl1pPr marL="0" indent="0">
              <a:buNone/>
              <a:defRPr sz="2646" b="0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62702" y="3017307"/>
            <a:ext cx="3407251" cy="36421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458F-CAF5-4A6A-85BB-78E5A72D317D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D9AFDCF-582A-41B4-958D-F1C9F32E54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0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671971"/>
            <a:ext cx="6997914" cy="1455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FA8201-7FA4-438C-BE82-8A62AE2CE122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0B5D9C-6E94-4FF6-A963-CA05A6B671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0413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8D4B61-7E01-42F9-97E9-E42731452769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432926-4711-4BF8-95FD-B181651489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5965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1651933"/>
            <a:ext cx="3075982" cy="1409272"/>
          </a:xfrm>
        </p:spPr>
        <p:txBody>
          <a:bodyPr anchor="b"/>
          <a:lstStyle>
            <a:lvl1pPr>
              <a:defRPr sz="22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7083" y="567610"/>
            <a:ext cx="3732871" cy="60918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3061205"/>
            <a:ext cx="3075982" cy="2848876"/>
          </a:xfrm>
        </p:spPr>
        <p:txBody>
          <a:bodyPr/>
          <a:lstStyle>
            <a:lvl1pPr marL="0" indent="0">
              <a:buNone/>
              <a:defRPr sz="1543"/>
            </a:lvl1pPr>
            <a:lvl2pPr marL="377979" indent="0">
              <a:buNone/>
              <a:defRPr sz="1157"/>
            </a:lvl2pPr>
            <a:lvl3pPr marL="755957" indent="0">
              <a:buNone/>
              <a:defRPr sz="992"/>
            </a:lvl3pPr>
            <a:lvl4pPr marL="1133936" indent="0">
              <a:buNone/>
              <a:defRPr sz="827"/>
            </a:lvl4pPr>
            <a:lvl5pPr marL="1511915" indent="0">
              <a:buNone/>
              <a:defRPr sz="827"/>
            </a:lvl5pPr>
            <a:lvl6pPr marL="1889893" indent="0">
              <a:buNone/>
              <a:defRPr sz="827"/>
            </a:lvl6pPr>
            <a:lvl7pPr marL="2267872" indent="0">
              <a:buNone/>
              <a:defRPr sz="827"/>
            </a:lvl7pPr>
            <a:lvl8pPr marL="2645851" indent="0">
              <a:buNone/>
              <a:defRPr sz="827"/>
            </a:lvl8pPr>
            <a:lvl9pPr marL="3023829" indent="0">
              <a:buNone/>
              <a:defRPr sz="8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7A6316-DBB2-4E70-8AC9-180C0EC9A60A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A43467-377B-4846-B48C-00B69AD61F7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7699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1" y="5291772"/>
            <a:ext cx="6997914" cy="624724"/>
          </a:xfrm>
        </p:spPr>
        <p:txBody>
          <a:bodyPr anchor="b"/>
          <a:lstStyle>
            <a:lvl1pPr algn="l">
              <a:defRPr sz="2646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2041" y="671971"/>
            <a:ext cx="6997914" cy="4239192"/>
          </a:xfrm>
        </p:spPr>
        <p:txBody>
          <a:bodyPr rtlCol="0">
            <a:normAutofit/>
          </a:bodyPr>
          <a:lstStyle>
            <a:lvl1pPr marL="0" indent="0" algn="ctr">
              <a:buNone/>
              <a:defRPr sz="1764"/>
            </a:lvl1pPr>
            <a:lvl2pPr marL="503972" indent="0">
              <a:buNone/>
              <a:defRPr sz="1764"/>
            </a:lvl2pPr>
            <a:lvl3pPr marL="1007943" indent="0">
              <a:buNone/>
              <a:defRPr sz="1764"/>
            </a:lvl3pPr>
            <a:lvl4pPr marL="1511915" indent="0">
              <a:buNone/>
              <a:defRPr sz="1764"/>
            </a:lvl4pPr>
            <a:lvl5pPr marL="2015886" indent="0">
              <a:buNone/>
              <a:defRPr sz="1764"/>
            </a:lvl5pPr>
            <a:lvl6pPr marL="2519858" indent="0">
              <a:buNone/>
              <a:defRPr sz="1764"/>
            </a:lvl6pPr>
            <a:lvl7pPr marL="3023829" indent="0">
              <a:buNone/>
              <a:defRPr sz="1764"/>
            </a:lvl7pPr>
            <a:lvl8pPr marL="3527801" indent="0">
              <a:buNone/>
              <a:defRPr sz="1764"/>
            </a:lvl8pPr>
            <a:lvl9pPr marL="4031772" indent="0">
              <a:buNone/>
              <a:defRPr sz="1764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2041" y="5916496"/>
            <a:ext cx="6997914" cy="742987"/>
          </a:xfrm>
        </p:spPr>
        <p:txBody>
          <a:bodyPr/>
          <a:lstStyle>
            <a:lvl1pPr marL="0" indent="0">
              <a:buNone/>
              <a:defRPr sz="1323"/>
            </a:lvl1pPr>
            <a:lvl2pPr marL="503972" indent="0">
              <a:buNone/>
              <a:defRPr sz="1323"/>
            </a:lvl2pPr>
            <a:lvl3pPr marL="1007943" indent="0">
              <a:buNone/>
              <a:defRPr sz="1102"/>
            </a:lvl3pPr>
            <a:lvl4pPr marL="1511915" indent="0">
              <a:buNone/>
              <a:defRPr sz="992"/>
            </a:lvl4pPr>
            <a:lvl5pPr marL="2015886" indent="0">
              <a:buNone/>
              <a:defRPr sz="992"/>
            </a:lvl5pPr>
            <a:lvl6pPr marL="2519858" indent="0">
              <a:buNone/>
              <a:defRPr sz="992"/>
            </a:lvl6pPr>
            <a:lvl7pPr marL="3023829" indent="0">
              <a:buNone/>
              <a:defRPr sz="992"/>
            </a:lvl7pPr>
            <a:lvl8pPr marL="3527801" indent="0">
              <a:buNone/>
              <a:defRPr sz="992"/>
            </a:lvl8pPr>
            <a:lvl9pPr marL="4031772" indent="0">
              <a:buNone/>
              <a:defRPr sz="99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82401-302D-4AD0-AB24-ED10D7D72137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F0FE83-70AA-45D9-97D7-4E733154DB6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0705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2" y="671971"/>
            <a:ext cx="6997914" cy="3751839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2" y="4927788"/>
            <a:ext cx="6997914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ECB8B-D721-4EF8-A3C5-580BEFA98042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CAB4842-629A-46D1-BEFC-E9CB975990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2303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13857" y="4003828"/>
            <a:ext cx="5974958" cy="419982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27788"/>
            <a:ext cx="6997915" cy="1731695"/>
          </a:xfrm>
        </p:spPr>
        <p:txBody>
          <a:bodyPr anchor="ctr"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C61119-7970-4A9A-AAB2-98ABEBFCA5FE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81A2F521-8B3A-4807-90F1-AFFD25D71E8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441828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040" y="2129659"/>
            <a:ext cx="6997915" cy="2861014"/>
          </a:xfrm>
        </p:spPr>
        <p:txBody>
          <a:bodyPr anchor="b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7D41A9-0F6B-4E51-B889-CDB13FC93715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54CBC2-F5ED-4FFC-9CD3-65623D78D27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18064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1813" y="871538"/>
            <a:ext cx="504825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39025" y="3181350"/>
            <a:ext cx="503238" cy="644525"/>
          </a:xfrm>
          <a:prstGeom prst="rect">
            <a:avLst/>
          </a:prstGeom>
        </p:spPr>
        <p:txBody>
          <a:bodyPr lIns="100796" tIns="50398" rIns="100796" bIns="50398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8818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257" y="671971"/>
            <a:ext cx="6694159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D170C9-18E3-44C1-9335-DCEDE298CE0F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7A1A9B62-D521-4F4A-B2D1-7811B6209E4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3208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930" y="671971"/>
            <a:ext cx="6991025" cy="3331857"/>
          </a:xfrm>
        </p:spPr>
        <p:txBody>
          <a:bodyPr anchor="ctr"/>
          <a:lstStyle>
            <a:lvl1pPr algn="l">
              <a:defRPr sz="485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2038" y="4423810"/>
            <a:ext cx="6997916" cy="566863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6">
                <a:solidFill>
                  <a:schemeClr val="accent1"/>
                </a:solidFill>
              </a:defRPr>
            </a:lvl1pPr>
            <a:lvl2pPr marL="503972" indent="0">
              <a:buFontTx/>
              <a:buNone/>
              <a:defRPr/>
            </a:lvl2pPr>
            <a:lvl3pPr marL="1007943" indent="0">
              <a:buFontTx/>
              <a:buNone/>
              <a:defRPr/>
            </a:lvl3pPr>
            <a:lvl4pPr marL="1511915" indent="0">
              <a:buFontTx/>
              <a:buNone/>
              <a:defRPr/>
            </a:lvl4pPr>
            <a:lvl5pPr marL="2015886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2040" y="4990673"/>
            <a:ext cx="6997915" cy="1668810"/>
          </a:xfrm>
        </p:spPr>
        <p:txBody>
          <a:bodyPr/>
          <a:lstStyle>
            <a:lvl1pPr marL="0" indent="0" algn="l">
              <a:buNone/>
              <a:defRPr sz="198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972" indent="0">
              <a:buNone/>
              <a:defRPr sz="1984">
                <a:solidFill>
                  <a:schemeClr val="tx1">
                    <a:tint val="75000"/>
                  </a:schemeClr>
                </a:solidFill>
              </a:defRPr>
            </a:lvl2pPr>
            <a:lvl3pPr marL="1007943" indent="0">
              <a:buNone/>
              <a:defRPr sz="1764">
                <a:solidFill>
                  <a:schemeClr val="tx1">
                    <a:tint val="75000"/>
                  </a:schemeClr>
                </a:solidFill>
              </a:defRPr>
            </a:lvl3pPr>
            <a:lvl4pPr marL="151191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88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9858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382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780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177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E26F53-B5ED-4561-B160-A9B4D6B4E7D7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D95F4E43-F14B-466F-AE47-7D9F6EE77EE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064838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BE664-3004-428A-9CD5-66B8EFE6C2E0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7A432-6821-421E-B19A-434529A7DB9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47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89572" y="671972"/>
            <a:ext cx="1079072" cy="5788752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2041" y="671972"/>
            <a:ext cx="5727155" cy="57887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C51E4-1425-456E-8351-B1421C5E869B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FACB436-177D-4977-8C1C-AD2ED4E8E0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4518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16"/>
          <p:cNvGrpSpPr>
            <a:grpSpLocks/>
          </p:cNvGrpSpPr>
          <p:nvPr/>
        </p:nvGrpSpPr>
        <p:grpSpPr bwMode="auto">
          <a:xfrm>
            <a:off x="-9525" y="-9525"/>
            <a:ext cx="10110788" cy="757872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672"/>
              <a:ext cx="457918" cy="2852795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cxnSp>
          <p:nvCxnSpPr>
            <p:cNvPr id="8" name="Straight Connector 7"/>
            <p:cNvCxnSpPr/>
            <p:nvPr/>
          </p:nvCxnSpPr>
          <p:spPr>
            <a:xfrm flipV="1">
              <a:off x="5130869" y="4174961"/>
              <a:ext cx="4021900" cy="268286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3180" y="172"/>
              <a:ext cx="1218234" cy="6857654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980" y="172"/>
              <a:ext cx="2269429" cy="6866295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204459" y="-8468"/>
              <a:ext cx="1948310" cy="6866295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6638542" y="3920066"/>
              <a:ext cx="2512789" cy="2937760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010060" y="-8468"/>
              <a:ext cx="2142710" cy="6866295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8295974" y="-8468"/>
              <a:ext cx="856795" cy="6866295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094375" y="-8468"/>
              <a:ext cx="1067034" cy="6866295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068455" y="4893559"/>
              <a:ext cx="1094395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pPr>
                <a:defRPr/>
              </a:pPr>
              <a:endParaRPr lang="en-IN"/>
            </a:p>
          </p:txBody>
        </p:sp>
      </p:grpSp>
      <p:sp>
        <p:nvSpPr>
          <p:cNvPr id="1027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671513" y="671513"/>
            <a:ext cx="6997700" cy="145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671513" y="2381250"/>
            <a:ext cx="6997700" cy="427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59475" y="6659563"/>
            <a:ext cx="754063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09C5CCE-1A0A-4035-BA2B-703F402BB473}" type="datetimeFigureOut">
              <a:rPr lang="en-US"/>
              <a:pPr>
                <a:defRPr/>
              </a:pPr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1513" y="6659563"/>
            <a:ext cx="5097462" cy="401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92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4063" y="6659563"/>
            <a:ext cx="565150" cy="401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chemeClr val="accent1"/>
                </a:solidFill>
              </a:defRPr>
            </a:lvl1pPr>
          </a:lstStyle>
          <a:p>
            <a:fld id="{9B9EBBDD-3F99-4D64-A687-34FD1EFB96FA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4" r:id="rId1"/>
    <p:sldLayoutId id="2147484011" r:id="rId2"/>
    <p:sldLayoutId id="2147484012" r:id="rId3"/>
    <p:sldLayoutId id="2147484013" r:id="rId4"/>
    <p:sldLayoutId id="2147484014" r:id="rId5"/>
    <p:sldLayoutId id="2147484015" r:id="rId6"/>
    <p:sldLayoutId id="2147484016" r:id="rId7"/>
    <p:sldLayoutId id="2147484017" r:id="rId8"/>
    <p:sldLayoutId id="2147484018" r:id="rId9"/>
    <p:sldLayoutId id="2147484019" r:id="rId10"/>
    <p:sldLayoutId id="2147484025" r:id="rId11"/>
    <p:sldLayoutId id="2147484020" r:id="rId12"/>
    <p:sldLayoutId id="2147484026" r:id="rId13"/>
    <p:sldLayoutId id="2147484021" r:id="rId14"/>
    <p:sldLayoutId id="2147484022" r:id="rId15"/>
    <p:sldLayoutId id="2147484023" r:id="rId16"/>
  </p:sldLayoutIdLst>
  <p:txStyles>
    <p:titleStyle>
      <a:lvl1pPr algn="l" defTabSz="503238" rtl="0" eaLnBrk="0" fontAlgn="base" hangingPunct="0">
        <a:spcBef>
          <a:spcPct val="0"/>
        </a:spcBef>
        <a:spcAft>
          <a:spcPct val="0"/>
        </a:spcAft>
        <a:defRPr sz="39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2pPr>
      <a:lvl3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3pPr>
      <a:lvl4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4pPr>
      <a:lvl5pPr algn="l" defTabSz="503238" rtl="0" eaLnBrk="0" fontAlgn="base" hangingPunct="0">
        <a:spcBef>
          <a:spcPct val="0"/>
        </a:spcBef>
        <a:spcAft>
          <a:spcPct val="0"/>
        </a:spcAft>
        <a:defRPr sz="3900">
          <a:solidFill>
            <a:schemeClr val="accent1"/>
          </a:solidFill>
          <a:latin typeface="Trebuchet MS" panose="020B0603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25" indent="-377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900" kern="1200">
          <a:solidFill>
            <a:srgbClr val="404040"/>
          </a:solidFill>
          <a:latin typeface="+mn-lt"/>
          <a:ea typeface="+mn-ea"/>
          <a:cs typeface="+mn-cs"/>
        </a:defRPr>
      </a:lvl1pPr>
      <a:lvl2pPr marL="817563" indent="-3143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700" kern="1200">
          <a:solidFill>
            <a:srgbClr val="404040"/>
          </a:solidFill>
          <a:latin typeface="+mn-lt"/>
          <a:ea typeface="+mn-ea"/>
          <a:cs typeface="+mn-cs"/>
        </a:defRPr>
      </a:lvl2pPr>
      <a:lvl3pPr marL="1258888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500" kern="1200">
          <a:solidFill>
            <a:srgbClr val="404040"/>
          </a:solidFill>
          <a:latin typeface="+mn-lt"/>
          <a:ea typeface="+mn-ea"/>
          <a:cs typeface="+mn-cs"/>
        </a:defRPr>
      </a:lvl3pPr>
      <a:lvl4pPr marL="1763713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4pPr>
      <a:lvl5pPr marL="2266950" indent="-250825" algn="l" defTabSz="503238" rtl="0" eaLnBrk="0" fontAlgn="base" hangingPunct="0">
        <a:spcBef>
          <a:spcPts val="1100"/>
        </a:spcBef>
        <a:spcAft>
          <a:spcPct val="0"/>
        </a:spcAft>
        <a:buClr>
          <a:schemeClr val="accent1"/>
        </a:buClr>
        <a:buSzPct val="80000"/>
        <a:buFont typeface="Wingdings 3" panose="05040102010807070707" pitchFamily="18" charset="2"/>
        <a:buChar char=""/>
        <a:defRPr sz="1300" kern="1200">
          <a:solidFill>
            <a:srgbClr val="404040"/>
          </a:solidFill>
          <a:latin typeface="+mn-lt"/>
          <a:ea typeface="+mn-ea"/>
          <a:cs typeface="+mn-cs"/>
        </a:defRPr>
      </a:lvl5pPr>
      <a:lvl6pPr marL="2771844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5815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9787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3758" indent="-251986" algn="l" defTabSz="503972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2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1pPr>
      <a:lvl2pPr marL="5039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1007943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3pPr>
      <a:lvl4pPr marL="1511915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4pPr>
      <a:lvl5pPr marL="2015886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5pPr>
      <a:lvl6pPr marL="2519858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6pPr>
      <a:lvl7pPr marL="3023829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7pPr>
      <a:lvl8pPr marL="3527801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8pPr>
      <a:lvl9pPr marL="4031772" algn="l" defTabSz="503972" rtl="0" eaLnBrk="1" latinLnBrk="0" hangingPunct="1">
        <a:defRPr sz="198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ChangeArrowheads="1"/>
          </p:cNvSpPr>
          <p:nvPr/>
        </p:nvSpPr>
        <p:spPr bwMode="auto">
          <a:xfrm>
            <a:off x="503238" y="1768475"/>
            <a:ext cx="9070975" cy="5467350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24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0" y="1743075"/>
            <a:ext cx="100806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1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600" y="179388"/>
            <a:ext cx="77057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Box 1"/>
          <p:cNvSpPr txBox="1">
            <a:spLocks noChangeArrowheads="1"/>
          </p:cNvSpPr>
          <p:nvPr/>
        </p:nvSpPr>
        <p:spPr bwMode="auto">
          <a:xfrm>
            <a:off x="647700" y="2916238"/>
            <a:ext cx="8569325" cy="354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I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Cities and Communities(SDG 11) 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Category- SOFTWARE 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No -1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100" b="1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-Vedant.M , Prathmesh.M , Manthan.P , Yatharth.P.</a:t>
            </a:r>
          </a:p>
          <a:p>
            <a:pPr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Guide- Dr.Rahul Ambekar.</a:t>
            </a:r>
          </a:p>
        </p:txBody>
      </p:sp>
      <p:sp>
        <p:nvSpPr>
          <p:cNvPr id="4" name="Title 7"/>
          <p:cNvSpPr txBox="1">
            <a:spLocks/>
          </p:cNvSpPr>
          <p:nvPr/>
        </p:nvSpPr>
        <p:spPr bwMode="auto">
          <a:xfrm>
            <a:off x="1116013" y="2044700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>
            <a:normAutofit fontScale="25000" lnSpcReduction="20000"/>
          </a:bodyPr>
          <a:lstStyle>
            <a:lvl1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68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2pPr>
            <a:lvl3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3pPr>
            <a:lvl4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4pPr>
            <a:lvl5pPr algn="l" defTabSz="503238" rtl="0" eaLnBrk="0" fontAlgn="base" hangingPunct="0">
              <a:spcBef>
                <a:spcPct val="0"/>
              </a:spcBef>
              <a:spcAft>
                <a:spcPct val="0"/>
              </a:spcAft>
              <a:defRPr sz="3900">
                <a:solidFill>
                  <a:schemeClr val="accent1"/>
                </a:solidFill>
                <a:latin typeface="Trebuchet MS" panose="020B0603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>
              <a:defRPr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Lost And Found Portal</a:t>
            </a:r>
            <a:endParaRPr lang="en-IN" sz="14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4825" y="144463"/>
            <a:ext cx="9070975" cy="755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40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Outline</a:t>
            </a:r>
          </a:p>
        </p:txBody>
      </p:sp>
      <p:sp>
        <p:nvSpPr>
          <p:cNvPr id="8195" name="Rectangle 2"/>
          <p:cNvSpPr>
            <a:spLocks noChangeArrowheads="1"/>
          </p:cNvSpPr>
          <p:nvPr/>
        </p:nvSpPr>
        <p:spPr bwMode="auto">
          <a:xfrm>
            <a:off x="504825" y="990600"/>
            <a:ext cx="9323388" cy="631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21240" rIns="0" bIns="0"/>
          <a:lstStyle>
            <a:lvl1pPr marL="430213" indent="-322263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 existing systems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and Objectives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Analysis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792163" y="179388"/>
            <a:ext cx="9070975" cy="126206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Introduction</a:t>
            </a:r>
          </a:p>
        </p:txBody>
      </p:sp>
      <p:sp>
        <p:nvSpPr>
          <p:cNvPr id="2" name="Content Placeholder 2"/>
          <p:cNvSpPr txBox="1">
            <a:spLocks/>
          </p:cNvSpPr>
          <p:nvPr/>
        </p:nvSpPr>
        <p:spPr bwMode="auto">
          <a:xfrm>
            <a:off x="412750" y="1187450"/>
            <a:ext cx="8588375" cy="273685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Source Sans Pro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Lost items are common in colleges.</a:t>
            </a:r>
          </a:p>
          <a:p>
            <a:pPr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digital tracking system.</a:t>
            </a:r>
          </a:p>
          <a:p>
            <a:pPr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transparency causes delays.</a:t>
            </a:r>
          </a:p>
          <a:p>
            <a:pPr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struggle to recover belongings.</a:t>
            </a:r>
          </a:p>
          <a:p>
            <a:pPr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material resale is unorganized.</a:t>
            </a:r>
          </a:p>
          <a:p>
            <a:pPr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system improves tracking and recovery, 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making it faster and more organized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Font typeface="Arial" panose="020B0604020202020204" pitchFamily="34" charset="0"/>
              <a:buNone/>
              <a:defRPr/>
            </a:pPr>
            <a:endParaRPr lang="en-US" sz="18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71513" y="4356100"/>
            <a:ext cx="7537450" cy="287972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time and effort.</a:t>
            </a:r>
          </a:p>
          <a:p>
            <a:pPr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stress for students.</a:t>
            </a:r>
          </a:p>
          <a:p>
            <a:pPr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institutional transparency.</a:t>
            </a:r>
          </a:p>
          <a:p>
            <a:pPr>
              <a:buClr>
                <a:schemeClr val="tx2">
                  <a:lumMod val="75000"/>
                </a:schemeClr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SDG 11 (Strong Institutions).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endParaRPr lang="en-IN" sz="1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 noChangeArrowheads="1"/>
          </p:cNvSpPr>
          <p:nvPr>
            <p:ph type="title"/>
          </p:nvPr>
        </p:nvSpPr>
        <p:spPr>
          <a:xfrm>
            <a:off x="671513" y="671513"/>
            <a:ext cx="6997700" cy="947737"/>
          </a:xfrm>
        </p:spPr>
        <p:txBody>
          <a:bodyPr/>
          <a:lstStyle/>
          <a:p>
            <a:r>
              <a:rPr lang="en-IN" altLang="en-US" sz="32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 &amp; Motivation</a:t>
            </a:r>
            <a:r>
              <a:rPr lang="en-IN" altLang="en-US" sz="3200" b="1" smtClean="0">
                <a:solidFill>
                  <a:schemeClr val="tx1"/>
                </a:solidFill>
              </a:rPr>
              <a:t/>
            </a:r>
            <a:br>
              <a:rPr lang="en-IN" altLang="en-US" sz="3200" b="1" smtClean="0">
                <a:solidFill>
                  <a:schemeClr val="tx1"/>
                </a:solidFill>
              </a:rPr>
            </a:br>
            <a:r>
              <a:rPr lang="en-IN" altLang="en-US" sz="3200" b="1" smtClean="0">
                <a:solidFill>
                  <a:schemeClr val="tx1"/>
                </a:solidFill>
              </a:rPr>
              <a:t/>
            </a:r>
            <a:br>
              <a:rPr lang="en-IN" altLang="en-US" sz="3200" b="1" smtClean="0">
                <a:solidFill>
                  <a:schemeClr val="tx1"/>
                </a:solidFill>
              </a:rPr>
            </a:br>
            <a:endParaRPr lang="en-IN" altLang="en-US" sz="3200" b="1" smtClean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513" y="1258888"/>
            <a:ext cx="6997700" cy="540067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Challenges: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tracking of claim status.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lost &amp; found messages get ignored in busy WhatsApp groups.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secure verification system.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way to track previous posts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platform for senior-to-junior exchange.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Observed inefficiency in campus process.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 student complaints.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digital accountability.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Desire to create structured campus ecosystem.</a:t>
            </a:r>
            <a:r>
              <a:rPr lang="en-IN" sz="1800" dirty="0"/>
              <a:t/>
            </a:r>
            <a:br>
              <a:rPr lang="en-IN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IN" sz="1800" dirty="0"/>
              <a:t/>
            </a:r>
            <a:br>
              <a:rPr lang="en-IN" sz="1800" dirty="0"/>
            </a:br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6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1513" y="1619250"/>
            <a:ext cx="6997700" cy="5473700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centralized web-based portal.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users to report lost/found items.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claim submission and admin approval.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recovery percentage analytics.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login system with authentication.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Senior2Junior academic resale module.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structured database design.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transparency and efficiency.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IN" sz="1800" dirty="0"/>
              <a:t/>
            </a:r>
            <a:br>
              <a:rPr lang="en-IN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US" sz="1800" dirty="0"/>
              <a:t/>
            </a:r>
            <a:br>
              <a:rPr lang="en-US" sz="1800" dirty="0"/>
            </a:br>
            <a:r>
              <a:rPr lang="en-IN" sz="1800" dirty="0"/>
              <a:t/>
            </a:r>
            <a:br>
              <a:rPr lang="en-IN" sz="1800" dirty="0"/>
            </a:br>
            <a:endParaRPr lang="en-IN" sz="1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</a:t>
            </a: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of Existing Systems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18435" name="Rectangle 2"/>
          <p:cNvSpPr>
            <a:spLocks noChangeArrowheads="1"/>
          </p:cNvSpPr>
          <p:nvPr/>
        </p:nvSpPr>
        <p:spPr bwMode="auto">
          <a:xfrm>
            <a:off x="503238" y="1403350"/>
            <a:ext cx="9070975" cy="5354638"/>
          </a:xfrm>
          <a:prstGeom prst="rect">
            <a:avLst/>
          </a:prstGeom>
          <a:noFill/>
          <a:ln>
            <a:noFill/>
          </a:ln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None/>
              <a:tabLst/>
              <a:defRPr/>
            </a:pPr>
            <a:endParaRPr lang="en-US" altLang="en-US" sz="2400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defTabSz="914400">
              <a:spcBef>
                <a:spcPct val="20000"/>
              </a:spcBef>
              <a:buFont typeface="Arial" panose="020B0604020202020204" pitchFamily="34" charset="0"/>
              <a:buChar char="•"/>
              <a:tabLst/>
              <a:defRPr/>
            </a:pPr>
            <a:endParaRPr lang="en-US" altLang="en-US" sz="2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ct val="93000"/>
              </a:lnSpc>
              <a:spcAft>
                <a:spcPts val="1413"/>
              </a:spcAft>
              <a:defRPr/>
            </a:pPr>
            <a:r>
              <a:rPr lang="en-IN" altLang="en-US" sz="36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altLang="en-US" sz="36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40" name="Title 5"/>
          <p:cNvSpPr>
            <a:spLocks noGrp="1" noChangeArrowheads="1"/>
          </p:cNvSpPr>
          <p:nvPr>
            <p:ph type="title"/>
          </p:nvPr>
        </p:nvSpPr>
        <p:spPr>
          <a:xfrm>
            <a:off x="671513" y="4859338"/>
            <a:ext cx="6997700" cy="504825"/>
          </a:xfrm>
        </p:spPr>
        <p:txBody>
          <a:bodyPr/>
          <a:lstStyle/>
          <a:p>
            <a:r>
              <a:rPr lang="en-IN" altLang="en-US" sz="20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671513" y="5424488"/>
            <a:ext cx="6997700" cy="1833562"/>
          </a:xfrm>
        </p:spPr>
        <p:txBody>
          <a:bodyPr/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reporting features exist.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Lack of structured admin control.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recovery analytics.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academic resale integration</a:t>
            </a:r>
            <a:r>
              <a:rPr lang="en-IN" sz="1800" dirty="0"/>
              <a:t>.</a:t>
            </a:r>
          </a:p>
          <a:p>
            <a:pPr>
              <a:defRPr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pPr>
              <a:defRPr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  <a:p>
            <a:pPr>
              <a:defRPr/>
            </a:pP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03238" y="1258888"/>
          <a:ext cx="8497887" cy="3981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3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9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495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5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1427"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Key Results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IN" sz="20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Limitations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571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Suchana et al.,</a:t>
                      </a:r>
                    </a:p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Web-based system using HTML,CSS,PHP.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Simple interface , easy reporting of lost items.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 analytics , weak security.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9175">
                <a:tc>
                  <a:txBody>
                    <a:bodyPr/>
                    <a:lstStyle/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Soumya et al.,</a:t>
                      </a:r>
                    </a:p>
                    <a:p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Web + centralized campus platform.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Improved communication and fast recovery.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claim </a:t>
                      </a: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verification , limited admin control .</a:t>
                      </a:r>
                    </a:p>
                  </a:txBody>
                  <a:tcPr marL="91450" marR="91450" marT="45741" marB="4574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6277"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Abhiram et al.,</a:t>
                      </a:r>
                    </a:p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8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CampusTrace</a:t>
                      </a:r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 app with real-time updates.</a:t>
                      </a:r>
                      <a:endParaRPr lang="en-IN" sz="18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Faster item tracking and </a:t>
                      </a: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notifications.</a:t>
                      </a:r>
                    </a:p>
                  </a:txBody>
                  <a:tcPr marL="91450" marR="91450" marT="45741" marB="45741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user input accuracy , no </a:t>
                      </a:r>
                      <a:r>
                        <a:rPr lang="en-IN" sz="18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analytics.</a:t>
                      </a:r>
                    </a:p>
                  </a:txBody>
                  <a:tcPr marL="91450" marR="91450" marT="45741" marB="4574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 </a:t>
            </a: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+mj-cs"/>
              </a:rPr>
              <a:t>Limitations of existing Systems </a:t>
            </a:r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TextBox 4"/>
          <p:cNvSpPr txBox="1">
            <a:spLocks noChangeArrowheads="1"/>
          </p:cNvSpPr>
          <p:nvPr/>
        </p:nvSpPr>
        <p:spPr bwMode="auto">
          <a:xfrm>
            <a:off x="503238" y="1908175"/>
            <a:ext cx="8783637" cy="6308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  <a:defRPr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centralized institutional deployment.</a:t>
            </a:r>
          </a:p>
          <a:p>
            <a:pPr marL="0" indent="0">
              <a:defRPr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claim approval workflow.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statistical dashboard.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recovery rate calculation.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 authentication systems.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multi-role user system.</a:t>
            </a:r>
          </a:p>
          <a:p>
            <a:pPr marL="0" indent="0">
              <a:defRPr/>
            </a:pP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resale system for academic materials</a:t>
            </a:r>
            <a:r>
              <a:rPr lang="en-US" altLang="en-US" sz="2000" dirty="0"/>
              <a:t>.</a:t>
            </a:r>
          </a:p>
          <a:p>
            <a:pPr>
              <a:defRPr/>
            </a:pPr>
            <a:r>
              <a:rPr lang="en-US" altLang="en-US" dirty="0"/>
              <a:t/>
            </a:r>
            <a:br>
              <a:rPr lang="en-US" altLang="en-US" dirty="0"/>
            </a:br>
            <a:r>
              <a:rPr lang="en-IN" altLang="en-US" dirty="0"/>
              <a:t/>
            </a:r>
            <a:br>
              <a:rPr lang="en-IN" altLang="en-US" dirty="0"/>
            </a:br>
            <a:r>
              <a:rPr lang="en-IN" altLang="en-US" dirty="0"/>
              <a:t/>
            </a:r>
            <a:br>
              <a:rPr lang="en-IN" altLang="en-US" dirty="0"/>
            </a:br>
            <a:r>
              <a:rPr lang="en-IN" altLang="en-US" dirty="0"/>
              <a:t/>
            </a:r>
            <a:br>
              <a:rPr lang="en-IN" altLang="en-US" dirty="0"/>
            </a:br>
            <a:r>
              <a:rPr lang="en-IN" altLang="en-US" dirty="0"/>
              <a:t/>
            </a:r>
            <a:br>
              <a:rPr lang="en-IN" altLang="en-US" dirty="0"/>
            </a:br>
            <a:r>
              <a:rPr lang="en-IN" altLang="en-US" dirty="0"/>
              <a:t/>
            </a:r>
            <a:br>
              <a:rPr lang="en-IN" altLang="en-US" dirty="0"/>
            </a:br>
            <a:r>
              <a:rPr lang="en-IN" altLang="en-US" dirty="0"/>
              <a:t/>
            </a:r>
            <a:br>
              <a:rPr lang="en-IN" altLang="en-US" dirty="0"/>
            </a:br>
            <a:endParaRPr lang="en-US" altLang="en-US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363" y="671513"/>
            <a:ext cx="8640762" cy="1163637"/>
          </a:xfrm>
        </p:spPr>
        <p:txBody>
          <a:bodyPr/>
          <a:lstStyle/>
          <a:p>
            <a:pPr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</a:rPr>
              <a:t> Problem statement </a:t>
            </a:r>
            <a:endParaRPr lang="en-IN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900" y="1692275"/>
            <a:ext cx="8640763" cy="561657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College lacks structured digital system to: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lost items.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claims securely.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recovery statistics.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transparency.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Facilitate academic material exchange.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secure, scalable, and centralized web portal for campus-level                 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item management.</a:t>
            </a:r>
          </a:p>
          <a:p>
            <a:pPr marL="0" indent="0">
              <a:buFont typeface="Wingdings 3" panose="05040102010807070707" pitchFamily="18" charset="2"/>
              <a:buNone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altLang="en-US" sz="18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647700" y="288925"/>
            <a:ext cx="9070975" cy="1262063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Proposed Methodology</a:t>
            </a:r>
          </a:p>
        </p:txBody>
      </p:sp>
      <p:sp>
        <p:nvSpPr>
          <p:cNvPr id="19459" name="Rectangle 2"/>
          <p:cNvSpPr>
            <a:spLocks noChangeArrowheads="1"/>
          </p:cNvSpPr>
          <p:nvPr/>
        </p:nvSpPr>
        <p:spPr bwMode="auto">
          <a:xfrm>
            <a:off x="503238" y="1768475"/>
            <a:ext cx="9070975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2"/>
          <p:cNvSpPr txBox="1">
            <a:spLocks noChangeArrowheads="1"/>
          </p:cNvSpPr>
          <p:nvPr/>
        </p:nvSpPr>
        <p:spPr bwMode="auto">
          <a:xfrm>
            <a:off x="128588" y="2116138"/>
            <a:ext cx="8929687" cy="1662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defRPr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Architecture:</a:t>
            </a:r>
          </a:p>
          <a:p>
            <a:pPr>
              <a:defRPr/>
            </a:pPr>
            <a:endParaRPr lang="en-IN" b="1" dirty="0"/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3-Tier Architecture: User Layer (Browser), Application Layer (Servlet/Tomcat),       </a:t>
            </a:r>
          </a:p>
          <a:p>
            <a:pPr marL="0" indent="0"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Database Layer (MySQL).</a:t>
            </a:r>
          </a:p>
          <a:p>
            <a:pP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secure, fast, and centralized data management</a:t>
            </a:r>
            <a:r>
              <a:rPr lang="en-US" sz="2000" dirty="0"/>
              <a:t>.</a:t>
            </a:r>
            <a:endParaRPr lang="en-IN" sz="2000" dirty="0"/>
          </a:p>
        </p:txBody>
      </p:sp>
      <p:sp>
        <p:nvSpPr>
          <p:cNvPr id="19461" name="Title 2"/>
          <p:cNvSpPr>
            <a:spLocks noGrp="1" noChangeArrowheads="1"/>
          </p:cNvSpPr>
          <p:nvPr>
            <p:ph type="ctrTitle"/>
          </p:nvPr>
        </p:nvSpPr>
        <p:spPr>
          <a:xfrm>
            <a:off x="144463" y="3983038"/>
            <a:ext cx="8929687" cy="690562"/>
          </a:xfrm>
        </p:spPr>
        <p:txBody>
          <a:bodyPr/>
          <a:lstStyle/>
          <a:p>
            <a:pPr algn="l"/>
            <a:r>
              <a:rPr lang="en-IN" altLang="en-US" sz="2400" b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 Module:</a:t>
            </a:r>
          </a:p>
        </p:txBody>
      </p:sp>
      <p:sp>
        <p:nvSpPr>
          <p:cNvPr id="19462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52400" y="4710113"/>
            <a:ext cx="8904288" cy="16319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l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 Module – Submit lost and found item details</a:t>
            </a:r>
          </a:p>
          <a:p>
            <a:pPr algn="l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Matching Module – Find matches using item name, category, and location</a:t>
            </a:r>
          </a:p>
          <a:p>
            <a:pPr algn="l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Claim &amp; Notification Module – Allows users to claim items</a:t>
            </a:r>
          </a:p>
          <a:p>
            <a:pPr algn="l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Module – Manage users and item records</a:t>
            </a:r>
          </a:p>
          <a:p>
            <a:pPr algn="l" defTabSz="457200">
              <a:spcBef>
                <a:spcPct val="0"/>
              </a:spcBef>
              <a:buClrTx/>
              <a:buSzTx/>
              <a:buFontTx/>
              <a:buChar char="•"/>
            </a:pPr>
            <a:r>
              <a:rPr lang="en-US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– Register/Login users securely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338" y="725488"/>
            <a:ext cx="8135937" cy="587375"/>
          </a:xfrm>
        </p:spPr>
        <p:txBody>
          <a:bodyPr/>
          <a:lstStyle/>
          <a:p>
            <a:pPr>
              <a:defRPr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Architecture Diagram</a:t>
            </a:r>
          </a:p>
        </p:txBody>
      </p:sp>
      <p:sp>
        <p:nvSpPr>
          <p:cNvPr id="21507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6192838" y="819150"/>
            <a:ext cx="5040312" cy="587375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</a:pPr>
            <a:r>
              <a:rPr lang="en-IN" alt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</a:t>
            </a:r>
          </a:p>
          <a:p>
            <a:pPr marL="0" indent="0">
              <a:buFont typeface="Wingdings 3" panose="05040102010807070707" pitchFamily="18" charset="2"/>
              <a:buNone/>
            </a:pPr>
            <a:r>
              <a:rPr lang="en-IN" altLang="en-US" sz="18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Proposed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260475" y="2087563"/>
            <a:ext cx="3744913" cy="5292725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 dirty="0">
              <a:solidFill>
                <a:schemeClr val="tx1"/>
              </a:solidFill>
              <a:highlight>
                <a:srgbClr val="00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509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8425" y="2220913"/>
            <a:ext cx="3527425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550" y="2087563"/>
            <a:ext cx="3998913" cy="529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1" name="TextBox 6"/>
          <p:cNvSpPr txBox="1">
            <a:spLocks noChangeArrowheads="1"/>
          </p:cNvSpPr>
          <p:nvPr/>
        </p:nvSpPr>
        <p:spPr bwMode="auto">
          <a:xfrm>
            <a:off x="1544638" y="1550988"/>
            <a:ext cx="39989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US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Working Flow of System </a:t>
            </a:r>
            <a:endParaRPr lang="en-IN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3238" y="395288"/>
            <a:ext cx="7273925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I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531" name="TextBox 4"/>
          <p:cNvSpPr txBox="1">
            <a:spLocks noChangeArrowheads="1"/>
          </p:cNvSpPr>
          <p:nvPr/>
        </p:nvSpPr>
        <p:spPr bwMode="auto">
          <a:xfrm>
            <a:off x="503238" y="1038225"/>
            <a:ext cx="2989262" cy="91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Input / Dataset:</a:t>
            </a:r>
          </a:p>
          <a:p>
            <a:pPr algn="just">
              <a:lnSpc>
                <a:spcPct val="150000"/>
              </a:lnSpc>
            </a:pPr>
            <a:endParaRPr lang="en-US" alt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7"/>
          <p:cNvSpPr>
            <a:spLocks noGrp="1" noChangeArrowheads="1"/>
          </p:cNvSpPr>
          <p:nvPr>
            <p:ph idx="1"/>
          </p:nvPr>
        </p:nvSpPr>
        <p:spPr>
          <a:xfrm>
            <a:off x="463550" y="1481138"/>
            <a:ext cx="6997700" cy="1754187"/>
          </a:xfrm>
        </p:spPr>
        <p:txBody>
          <a:bodyPr anchor="ctr">
            <a:spAutoFit/>
          </a:bodyPr>
          <a:lstStyle/>
          <a:p>
            <a:pPr defTabSz="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User-provided data including lost and found item details.</a:t>
            </a:r>
          </a:p>
          <a:p>
            <a:pPr defTabSz="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 information: item name, description, category, location, date, and   </a:t>
            </a:r>
          </a:p>
          <a:p>
            <a:pPr defTabSz="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user details.</a:t>
            </a:r>
          </a:p>
          <a:p>
            <a:pPr defTabSz="457200">
              <a:spcBef>
                <a:spcPct val="0"/>
              </a:spcBef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stored and managed in MySQL database.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defTabSz="457200">
              <a:spcBef>
                <a:spcPct val="0"/>
              </a:spcBef>
              <a:buClrTx/>
              <a:buSzTx/>
              <a:buFontTx/>
              <a:buChar char="•"/>
              <a:defRPr/>
            </a:pPr>
            <a:endParaRPr lang="en-US" altLang="en-US" sz="1800" dirty="0">
              <a:solidFill>
                <a:schemeClr val="tx1"/>
              </a:solidFill>
            </a:endParaRPr>
          </a:p>
        </p:txBody>
      </p:sp>
      <p:sp>
        <p:nvSpPr>
          <p:cNvPr id="22533" name="TextBox 16"/>
          <p:cNvSpPr txBox="1">
            <a:spLocks noChangeArrowheads="1"/>
          </p:cNvSpPr>
          <p:nvPr/>
        </p:nvSpPr>
        <p:spPr bwMode="auto">
          <a:xfrm>
            <a:off x="635000" y="3038475"/>
            <a:ext cx="50625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 Parameters:</a:t>
            </a:r>
          </a:p>
        </p:txBody>
      </p:sp>
      <p:sp>
        <p:nvSpPr>
          <p:cNvPr id="22534" name="TextBox 18"/>
          <p:cNvSpPr txBox="1">
            <a:spLocks noChangeArrowheads="1"/>
          </p:cNvSpPr>
          <p:nvPr/>
        </p:nvSpPr>
        <p:spPr bwMode="auto">
          <a:xfrm>
            <a:off x="647700" y="3486150"/>
            <a:ext cx="5545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Successful user registration and login rate.</a:t>
            </a:r>
            <a:endParaRPr lang="en-I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8"/>
          <p:cNvSpPr>
            <a:spLocks noChangeArrowheads="1"/>
          </p:cNvSpPr>
          <p:nvPr/>
        </p:nvSpPr>
        <p:spPr bwMode="auto">
          <a:xfrm>
            <a:off x="647700" y="3800475"/>
            <a:ext cx="4237038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Accuracy of item storage and retrieval.</a:t>
            </a:r>
          </a:p>
          <a:p>
            <a:pPr>
              <a:buFontTx/>
              <a:buChar char="•"/>
              <a:defRPr/>
            </a:pPr>
            <a:endParaRPr lang="en-US" altLang="en-US" dirty="0"/>
          </a:p>
        </p:txBody>
      </p:sp>
      <p:sp>
        <p:nvSpPr>
          <p:cNvPr id="21" name="Rectangle 9"/>
          <p:cNvSpPr>
            <a:spLocks noChangeArrowheads="1"/>
          </p:cNvSpPr>
          <p:nvPr/>
        </p:nvSpPr>
        <p:spPr bwMode="auto">
          <a:xfrm>
            <a:off x="647700" y="4162425"/>
            <a:ext cx="4794250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  <a:defRPr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Response time for search and item reporting.</a:t>
            </a:r>
          </a:p>
          <a:p>
            <a:pPr>
              <a:buFontTx/>
              <a:buChar char="•"/>
              <a:defRPr/>
            </a:pPr>
            <a:endParaRPr lang="en-US" altLang="en-US" dirty="0"/>
          </a:p>
        </p:txBody>
      </p:sp>
      <p:sp>
        <p:nvSpPr>
          <p:cNvPr id="22537" name="TextBox 22"/>
          <p:cNvSpPr txBox="1">
            <a:spLocks noChangeArrowheads="1"/>
          </p:cNvSpPr>
          <p:nvPr/>
        </p:nvSpPr>
        <p:spPr bwMode="auto">
          <a:xfrm>
            <a:off x="635000" y="4567238"/>
            <a:ext cx="5062538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  System reliability and database consistency</a:t>
            </a:r>
          </a:p>
        </p:txBody>
      </p:sp>
      <p:sp>
        <p:nvSpPr>
          <p:cNvPr id="22538" name="TextBox 31"/>
          <p:cNvSpPr txBox="1">
            <a:spLocks noChangeArrowheads="1"/>
          </p:cNvSpPr>
          <p:nvPr/>
        </p:nvSpPr>
        <p:spPr bwMode="auto">
          <a:xfrm>
            <a:off x="722313" y="5114925"/>
            <a:ext cx="5062537" cy="261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Used:</a:t>
            </a:r>
          </a:p>
          <a:p>
            <a:endParaRPr lang="en-IN" altLang="en-US"/>
          </a:p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Frontend: HTML, CSS</a:t>
            </a:r>
          </a:p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Backend: Java JSP, Servlets</a:t>
            </a:r>
          </a:p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r>
              <a:rPr lang="en-IN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Server: Apache Tomcat</a:t>
            </a:r>
          </a:p>
          <a:p>
            <a:endParaRPr lang="en-IN" altLang="en-US" b="1"/>
          </a:p>
          <a:p>
            <a:endParaRPr lang="en-IN" altLang="en-US" b="1"/>
          </a:p>
          <a:p>
            <a:endParaRPr lang="en-IN" altLang="en-US" b="1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801688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N" altLang="en-US" sz="36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DejaVu Sans" charset="0"/>
            </a:endParaRPr>
          </a:p>
        </p:txBody>
      </p:sp>
      <p:sp>
        <p:nvSpPr>
          <p:cNvPr id="23555" name="Rectangle 2"/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US" altLang="en-US" sz="20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Home Page</a:t>
            </a:r>
            <a:endParaRPr lang="en-IN" altLang="en-US" sz="20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55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63" y="2063750"/>
            <a:ext cx="8178800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804862"/>
          </a:xfrm>
        </p:spPr>
        <p:txBody>
          <a:bodyPr/>
          <a:lstStyle/>
          <a:p>
            <a:pPr>
              <a:defRPr/>
            </a:pPr>
            <a:r>
              <a:rPr lang="en-I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2508250" y="1784350"/>
            <a:ext cx="83756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IN" alt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Register</a:t>
            </a:r>
            <a:endParaRPr lang="en-IN" sz="2400" dirty="0">
              <a:solidFill>
                <a:prstClr val="black"/>
              </a:solidFill>
            </a:endParaRPr>
          </a:p>
        </p:txBody>
      </p:sp>
      <p:pic>
        <p:nvPicPr>
          <p:cNvPr id="25604" name="Content Placeholder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3238" y="2555875"/>
            <a:ext cx="4537075" cy="4041775"/>
          </a:xfrm>
        </p:spPr>
      </p:pic>
      <p:sp>
        <p:nvSpPr>
          <p:cNvPr id="25605" name="TextBox 4"/>
          <p:cNvSpPr txBox="1">
            <a:spLocks noChangeArrowheads="1"/>
          </p:cNvSpPr>
          <p:nvPr/>
        </p:nvSpPr>
        <p:spPr bwMode="auto">
          <a:xfrm>
            <a:off x="6716713" y="1785938"/>
            <a:ext cx="3095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Report Item</a:t>
            </a:r>
            <a:endParaRPr lang="en-I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560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13" y="2555875"/>
            <a:ext cx="4824412" cy="404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876300"/>
          </a:xfrm>
        </p:spPr>
        <p:txBody>
          <a:bodyPr/>
          <a:lstStyle/>
          <a:p>
            <a:pPr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</a:t>
            </a:r>
            <a:endParaRPr lang="en-IN" dirty="0"/>
          </a:p>
        </p:txBody>
      </p:sp>
      <p:sp>
        <p:nvSpPr>
          <p:cNvPr id="7" name="TextBox 6"/>
          <p:cNvSpPr txBox="1"/>
          <p:nvPr/>
        </p:nvSpPr>
        <p:spPr>
          <a:xfrm>
            <a:off x="1511300" y="1614488"/>
            <a:ext cx="5062538" cy="9540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503238">
              <a:spcBef>
                <a:spcPts val="1100"/>
              </a:spcBef>
              <a:buClr>
                <a:srgbClr val="5FCBEF"/>
              </a:buClr>
              <a:buSzPct val="80000"/>
              <a:buFont typeface="Wingdings 3" panose="05040102010807070707" pitchFamily="18" charset="2"/>
              <a:buNone/>
              <a:defRPr/>
            </a:pPr>
            <a:r>
              <a:rPr lang="en-I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/>
            </a:r>
            <a:br>
              <a:rPr lang="en-I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</a:br>
            <a:r>
              <a:rPr lang="en-IN" altLang="en-US" sz="28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Rate us</a:t>
            </a:r>
            <a:endParaRPr lang="en-IN" sz="2646" dirty="0">
              <a:solidFill>
                <a:srgbClr val="404040"/>
              </a:solidFill>
              <a:latin typeface="Trebuchet MS" panose="020B0603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64275" y="2009775"/>
            <a:ext cx="5062538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503238">
              <a:spcBef>
                <a:spcPts val="1100"/>
              </a:spcBef>
              <a:buClr>
                <a:srgbClr val="5FCBEF"/>
              </a:buClr>
              <a:buSzPct val="80000"/>
              <a:buFont typeface="Wingdings 3" panose="05040102010807070707" pitchFamily="18" charset="2"/>
              <a:buNone/>
              <a:defRPr/>
            </a:pPr>
            <a:r>
              <a:rPr lang="en-US" sz="24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Ping us</a:t>
            </a:r>
            <a:endParaRPr lang="en-IN" sz="2800" b="1" dirty="0">
              <a:solidFill>
                <a:srgbClr val="40404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629" name="Content Placeholder 5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7338" y="2794000"/>
            <a:ext cx="4654550" cy="4094163"/>
          </a:xfrm>
        </p:spPr>
      </p:pic>
      <p:pic>
        <p:nvPicPr>
          <p:cNvPr id="2663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213" y="2794000"/>
            <a:ext cx="4824412" cy="409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660400"/>
          </a:xfrm>
        </p:spPr>
        <p:txBody>
          <a:bodyPr/>
          <a:lstStyle/>
          <a:p>
            <a:pPr>
              <a:defRPr/>
            </a:pPr>
            <a:r>
              <a:rPr lang="en-IN" altLang="en-US" sz="40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</a:t>
            </a:r>
            <a:endParaRPr lang="en-IN" dirty="0"/>
          </a:p>
        </p:txBody>
      </p:sp>
      <p:pic>
        <p:nvPicPr>
          <p:cNvPr id="27651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15900" y="2484438"/>
            <a:ext cx="4656138" cy="4010025"/>
          </a:xfrm>
        </p:spPr>
      </p:pic>
      <p:sp>
        <p:nvSpPr>
          <p:cNvPr id="27652" name="TextBox 3"/>
          <p:cNvSpPr txBox="1">
            <a:spLocks noChangeArrowheads="1"/>
          </p:cNvSpPr>
          <p:nvPr/>
        </p:nvSpPr>
        <p:spPr bwMode="auto">
          <a:xfrm>
            <a:off x="3311525" y="1708150"/>
            <a:ext cx="2808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endParaRPr lang="en-I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588" y="2484438"/>
            <a:ext cx="4656137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1513" y="671513"/>
            <a:ext cx="6997700" cy="587375"/>
          </a:xfrm>
        </p:spPr>
        <p:txBody>
          <a:bodyPr/>
          <a:lstStyle/>
          <a:p>
            <a:pPr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Implementation</a:t>
            </a:r>
            <a:endParaRPr lang="en-IN" dirty="0"/>
          </a:p>
        </p:txBody>
      </p:sp>
      <p:pic>
        <p:nvPicPr>
          <p:cNvPr id="2867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73150" y="2555875"/>
            <a:ext cx="6997700" cy="4049713"/>
          </a:xfrm>
        </p:spPr>
      </p:pic>
      <p:sp>
        <p:nvSpPr>
          <p:cNvPr id="28676" name="TextBox 3"/>
          <p:cNvSpPr txBox="1">
            <a:spLocks noChangeArrowheads="1"/>
          </p:cNvSpPr>
          <p:nvPr/>
        </p:nvSpPr>
        <p:spPr bwMode="auto">
          <a:xfrm>
            <a:off x="3276600" y="1690688"/>
            <a:ext cx="35274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US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Senior2Junior Page</a:t>
            </a:r>
            <a:endParaRPr lang="en-IN" altLang="en-US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1"/>
          <p:cNvSpPr>
            <a:spLocks noChangeArrowheads="1"/>
          </p:cNvSpPr>
          <p:nvPr/>
        </p:nvSpPr>
        <p:spPr bwMode="auto">
          <a:xfrm>
            <a:off x="503238" y="3016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29699" name="Rectangle 2"/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700" name="Rectangle 4"/>
          <p:cNvSpPr>
            <a:spLocks noChangeArrowheads="1"/>
          </p:cNvSpPr>
          <p:nvPr/>
        </p:nvSpPr>
        <p:spPr bwMode="auto">
          <a:xfrm>
            <a:off x="360363" y="1593850"/>
            <a:ext cx="8710612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r>
              <a:rPr lang="en-I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System Performance Metrics</a:t>
            </a:r>
            <a:r>
              <a:rPr lang="en-IN" altLang="en-US" sz="2000" b="1"/>
              <a:t>:</a:t>
            </a:r>
          </a:p>
        </p:txBody>
      </p:sp>
      <p:sp>
        <p:nvSpPr>
          <p:cNvPr id="29701" name="Content Placeholder 2"/>
          <p:cNvSpPr>
            <a:spLocks noGrp="1" noChangeArrowheads="1"/>
          </p:cNvSpPr>
          <p:nvPr>
            <p:ph idx="1"/>
          </p:nvPr>
        </p:nvSpPr>
        <p:spPr>
          <a:xfrm>
            <a:off x="503238" y="2381250"/>
            <a:ext cx="7165975" cy="2262188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user registration and login functionality.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storage and retrieval of lost and found item records.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 response time for item search and reporting.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altLang="en-US" sz="20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Reliable database operations without data loss.</a:t>
            </a:r>
            <a:endParaRPr lang="en-IN" altLang="en-US" sz="200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5488" y="4427538"/>
          <a:ext cx="7483475" cy="26860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42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25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65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SYSTEM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SYSTEM</a:t>
                      </a:r>
                    </a:p>
                  </a:txBody>
                  <a:tcPr marL="91450" marR="91450" marT="45721" marB="4572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Item Tracking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</a:t>
                      </a:r>
                    </a:p>
                  </a:txBody>
                  <a:tcPr marL="91450" marR="91450" marT="45721" marB="4572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898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Storage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Paper-based/scattered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Centralized MySQL database</a:t>
                      </a:r>
                    </a:p>
                  </a:txBody>
                  <a:tcPr marL="91450" marR="91450" marT="45721" marB="4572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245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Access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login system</a:t>
                      </a:r>
                    </a:p>
                  </a:txBody>
                  <a:tcPr marL="91450" marR="91450" marT="45721" marB="45721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234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Efficiency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Slow</a:t>
                      </a:r>
                    </a:p>
                  </a:txBody>
                  <a:tcPr marL="91450" marR="91450" marT="45721" marB="45721"/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Fast and efficient</a:t>
                      </a:r>
                    </a:p>
                  </a:txBody>
                  <a:tcPr marL="91450" marR="91450" marT="45721" marB="45721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"/>
          <p:cNvSpPr>
            <a:spLocks noChangeArrowheads="1"/>
          </p:cNvSpPr>
          <p:nvPr/>
        </p:nvSpPr>
        <p:spPr bwMode="auto">
          <a:xfrm>
            <a:off x="682625" y="466725"/>
            <a:ext cx="9070975" cy="1262063"/>
          </a:xfrm>
          <a:prstGeom prst="rect">
            <a:avLst/>
          </a:prstGeom>
          <a:noFill/>
          <a:ln>
            <a:noFill/>
          </a:ln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just">
              <a:lnSpc>
                <a:spcPct val="150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defRPr/>
            </a:pP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work</a:t>
            </a:r>
          </a:p>
        </p:txBody>
      </p:sp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671513" y="1728788"/>
            <a:ext cx="8113712" cy="4930775"/>
          </a:xfrm>
        </p:spPr>
        <p:txBody>
          <a:bodyPr/>
          <a:lstStyle/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web-based Lost and Found Portal for efficient item management.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 system improves tracking, storage, and retrieval of lost and found items.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secure user registration, login, item reporting, and search functionalities.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 enables proper monitoring and management of item records.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and improves recovery efficiency.</a:t>
            </a:r>
          </a:p>
          <a:p>
            <a:pPr marL="0" indent="0"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Improvement :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mobile application for better accessibility.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notification system for lost and found item matching.</a:t>
            </a:r>
          </a:p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user interface and overall system performance.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1"/>
          <p:cNvSpPr>
            <a:spLocks noChangeArrowheads="1"/>
          </p:cNvSpPr>
          <p:nvPr/>
        </p:nvSpPr>
        <p:spPr bwMode="auto">
          <a:xfrm>
            <a:off x="552450" y="312738"/>
            <a:ext cx="9070975" cy="1262062"/>
          </a:xfrm>
          <a:prstGeom prst="rect">
            <a:avLst/>
          </a:prstGeom>
          <a:noFill/>
          <a:ln>
            <a:noFill/>
          </a:ln>
          <a:effectLst/>
        </p:spPr>
        <p:txBody>
          <a:bodyPr lIns="0" tIns="31680" rIns="0" bIns="0" anchor="ctr"/>
          <a:lstStyle>
            <a:lvl1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1pPr>
            <a:lvl2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2pPr>
            <a:lvl3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3pPr>
            <a:lvl4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4pPr>
            <a:lvl5pPr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5pPr>
            <a:lvl6pPr marL="25146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6pPr>
            <a:lvl7pPr marL="29718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7pPr>
            <a:lvl8pPr marL="34290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8pPr>
            <a:lvl9pPr marL="3886200" indent="-228600" defTabSz="449263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cs typeface="Noto Sans CJK SC Regular" charset="0"/>
              </a:defRPr>
            </a:lvl9pPr>
          </a:lstStyle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altLang="en-US" sz="36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DejaVu Sans" charset="0"/>
              </a:rPr>
              <a:t>References</a:t>
            </a:r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503238" y="1563688"/>
            <a:ext cx="9070975" cy="519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1240" rIns="0" bIns="0"/>
          <a:lstStyle>
            <a:lvl1pPr marL="1079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ts val="1413"/>
              </a:spcAft>
            </a:pPr>
            <a:endParaRPr lang="en-IN" altLang="en-US" sz="240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6" name="Content Placeholder 2"/>
          <p:cNvSpPr txBox="1">
            <a:spLocks noChangeArrowheads="1"/>
          </p:cNvSpPr>
          <p:nvPr/>
        </p:nvSpPr>
        <p:spPr bwMode="auto">
          <a:xfrm>
            <a:off x="539750" y="1258888"/>
            <a:ext cx="8677275" cy="583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900">
                <a:solidFill>
                  <a:srgbClr val="404040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700">
                <a:solidFill>
                  <a:srgbClr val="404040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500">
                <a:solidFill>
                  <a:srgbClr val="404040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ts val="1100"/>
              </a:spcBef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ts val="1100"/>
              </a:spcBef>
              <a:spcAft>
                <a:spcPct val="0"/>
              </a:spcAft>
              <a:buClr>
                <a:schemeClr val="accent1"/>
              </a:buClr>
              <a:buSzPct val="80000"/>
              <a:buFont typeface="Wingdings 3" panose="05040102010807070707" pitchFamily="18" charset="2"/>
              <a:buChar char=""/>
              <a:defRPr sz="1300">
                <a:solidFill>
                  <a:srgbClr val="404040"/>
                </a:solidFill>
                <a:latin typeface="Trebuchet MS" panose="020B0603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Suchana, K., Alam, S. M. E., Meem, A. T., et al. “Development of User-Friendly Web-Based Lost and Found System,”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Journal of Software Engineering and Applications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2021..</a:t>
            </a:r>
          </a:p>
          <a:p>
            <a:pPr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Soumya, M., Mehak, S. Z., Chandra, V., et al. “Campus Lost: Connect and Recover,”</a:t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Technology and Management Sciences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</a:p>
          <a:p>
            <a:pPr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Abhiram, T., Krishnan, A., Manjith, K., et al. “CampusTrace: Application for Lost and Found Items on Campus,”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Trends in Computer Science and Smart Technology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>
              <a:buFont typeface="Wingdings 3" panose="05040102010807070707" pitchFamily="18" charset="2"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Wadbudhe , R., Ganesh, V., Patil, A., et al. “UniFind: Lost and Found Objects Management System using AI &amp; Cloud,” </a:t>
            </a: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Latest Technology in Engineering Management &amp; Applied Science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2025. </a:t>
            </a:r>
          </a:p>
          <a:p>
            <a:pPr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endParaRPr lang="fr-FR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</a:p>
          <a:p>
            <a:pPr>
              <a:spcBef>
                <a:spcPct val="0"/>
              </a:spcBef>
              <a:buClrTx/>
              <a:buSzTx/>
              <a:buFont typeface="Wingdings 3" panose="05040102010807070707" pitchFamily="18" charset="2"/>
              <a:buNone/>
            </a:pPr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Salha, Z., Pal, B. L.</a:t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“Mewar Lost and Found Information System,”</a:t>
            </a:r>
            <a:b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Science Engineering Techniques</a:t>
            </a:r>
            <a:r>
              <a:rPr lang="en-US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, 2025.</a:t>
            </a:r>
            <a:endParaRPr lang="en-US" altLang="en-US" sz="1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ChangeArrowheads="1"/>
          </p:cNvSpPr>
          <p:nvPr/>
        </p:nvSpPr>
        <p:spPr bwMode="auto">
          <a:xfrm>
            <a:off x="647700" y="3057525"/>
            <a:ext cx="9070975" cy="1262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31680" rIns="0" bIns="0" anchor="ctr"/>
          <a:lstStyle>
            <a:lvl1pPr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1pPr>
            <a:lvl2pPr marL="742950" indent="-28575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2pPr>
            <a:lvl3pPr marL="11430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3pPr>
            <a:lvl4pPr marL="16002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4pPr>
            <a:lvl5pPr marL="2057400" indent="-228600"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  <a:tab pos="8535988" algn="l"/>
                <a:tab pos="8985250" algn="l"/>
              </a:tabLst>
              <a:defRPr>
                <a:solidFill>
                  <a:schemeClr val="tx1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r>
              <a:rPr lang="en-IN" altLang="en-US" sz="3600" b="1">
                <a:solidFill>
                  <a:srgbClr val="000000"/>
                </a:solidFill>
                <a:latin typeface="Times New Roman" panose="02020603050405020304" pitchFamily="18" charset="0"/>
                <a:cs typeface="DejaVu Sans" charset="0"/>
              </a:rPr>
              <a:t>Thank Youuu....!!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921</TotalTime>
  <Words>1087</Words>
  <Application>Microsoft Office PowerPoint</Application>
  <PresentationFormat>Custom</PresentationFormat>
  <Paragraphs>214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Trebuchet MS</vt:lpstr>
      <vt:lpstr>Arial</vt:lpstr>
      <vt:lpstr>Wingdings 3</vt:lpstr>
      <vt:lpstr>Times New Roman</vt:lpstr>
      <vt:lpstr>DejaVu Sans</vt:lpstr>
      <vt:lpstr>Wingdings</vt:lpstr>
      <vt:lpstr>Source Sans Pro</vt:lpstr>
      <vt:lpstr>Facet</vt:lpstr>
      <vt:lpstr>PowerPoint Presentation</vt:lpstr>
      <vt:lpstr>PowerPoint Presentation</vt:lpstr>
      <vt:lpstr>PowerPoint Presentation</vt:lpstr>
      <vt:lpstr>Current Challenges &amp; Motivation  </vt:lpstr>
      <vt:lpstr>Objectives</vt:lpstr>
      <vt:lpstr>Observation:</vt:lpstr>
      <vt:lpstr>PowerPoint Presentation</vt:lpstr>
      <vt:lpstr> Problem statement </vt:lpstr>
      <vt:lpstr>Main Module:</vt:lpstr>
      <vt:lpstr> Architecture Diagram</vt:lpstr>
      <vt:lpstr>PowerPoint Presentation</vt:lpstr>
      <vt:lpstr>PowerPoint Presentation</vt:lpstr>
      <vt:lpstr>Implementation</vt:lpstr>
      <vt:lpstr>Implementation</vt:lpstr>
      <vt:lpstr>Implementation</vt:lpstr>
      <vt:lpstr>Implementation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 b</dc:creator>
  <cp:lastModifiedBy>Convertio</cp:lastModifiedBy>
  <cp:revision>85</cp:revision>
  <cp:lastPrinted>1601-01-01T00:00:00Z</cp:lastPrinted>
  <dcterms:created xsi:type="dcterms:W3CDTF">2017-10-25T08:22:14Z</dcterms:created>
  <dcterms:modified xsi:type="dcterms:W3CDTF">2026-04-16T16:18:08Z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Custom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</vt:i4>
  </property>
</Properties>
</file>